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90956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1540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92124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2708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7620">
            <a:solidFill>
              <a:srgbClr val="132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75488"/>
            <a:ext cx="6309360" cy="3200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1">
                <a:solidFill>
                  <a:srgbClr val="2DD3EF"/>
                </a:solidFill>
                <a:latin typeface="Aptos"/>
              </a:rPr>
              <a:t>DIGITAL DESIGN &amp; COMPUTER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024128"/>
            <a:ext cx="6583680" cy="12344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  <a:latin typeface="Aptos"/>
              </a:rPr>
              <a:t>MULTI-BIT BINARY
ADDER &amp; SUBTRACTOR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5852160" cy="64008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600" b="0">
                <a:solidFill>
                  <a:srgbClr val="ADBED5"/>
                </a:solidFill>
                <a:latin typeface="Aptos"/>
              </a:rPr>
              <a:t>A 4-bit arithmetic circuit using full adders, XOR gates and mode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01568"/>
            <a:ext cx="5989320" cy="2487168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30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538728"/>
            <a:ext cx="539496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1">
                <a:solidFill>
                  <a:srgbClr val="2DD3EF"/>
                </a:solidFill>
                <a:latin typeface="Aptos"/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913632"/>
            <a:ext cx="5486400" cy="310896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Bhuvana  |  2620030052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06824"/>
            <a:ext cx="5486400" cy="310896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M. Harshithaa Reddyy  |  2620030118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00016"/>
            <a:ext cx="5486400" cy="310896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Nishitha  |  2620030113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093208"/>
            <a:ext cx="5486400" cy="310896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Sai Kiran  |  2620030061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078992"/>
            <a:ext cx="41148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200" b="1">
                <a:solidFill>
                  <a:srgbClr val="ADBED5"/>
                </a:solidFill>
                <a:latin typeface="Aptos"/>
              </a:rPr>
              <a:t>OPERATION SELECT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627632"/>
            <a:ext cx="3657600" cy="987552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1755648"/>
            <a:ext cx="1463040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800" b="1">
                <a:solidFill>
                  <a:srgbClr val="3EDA93"/>
                </a:solidFill>
                <a:latin typeface="Aptos"/>
              </a:rPr>
              <a:t>M = 0
ADD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755648"/>
            <a:ext cx="1600200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700" b="1">
                <a:solidFill>
                  <a:srgbClr val="FFCD5C"/>
                </a:solidFill>
                <a:latin typeface="Aptos"/>
              </a:rPr>
              <a:t>M = 1
SUBTRACT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71800"/>
            <a:ext cx="3749039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2200" b="1">
                <a:solidFill>
                  <a:srgbClr val="F5F8FF"/>
                </a:solidFill>
                <a:latin typeface="Aptos"/>
              </a:rPr>
              <a:t>A + B     /     A −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767328"/>
            <a:ext cx="3749039" cy="7315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500" b="1">
                <a:solidFill>
                  <a:srgbClr val="ADBED5"/>
                </a:solidFill>
                <a:latin typeface="Aptos"/>
              </a:rPr>
              <a:t>SECTION: __________
SUBJECT: DDCA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36792"/>
            <a:ext cx="10058400" cy="2286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000" b="1">
                <a:solidFill>
                  <a:srgbClr val="ADBED5"/>
                </a:solidFill>
                <a:latin typeface="Aptos"/>
              </a:rPr>
              <a:t>FINAL PROJECT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000" b="1">
                <a:solidFill>
                  <a:srgbClr val="2DD3EF"/>
                </a:solidFill>
                <a:latin typeface="Aptos"/>
              </a:rPr>
              <a:t>DDCA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3035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Introduction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0">
                <a:solidFill>
                  <a:srgbClr val="ADBED5"/>
                </a:solidFill>
                <a:latin typeface="Aptos"/>
              </a:rPr>
              <a:t>One circuit. Two arithmetic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5349240" cy="4526280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30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4663440" cy="34747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1">
                <a:solidFill>
                  <a:srgbClr val="2DD3EF"/>
                </a:solidFill>
                <a:latin typeface="Aptos"/>
              </a:rPr>
              <a:t>WHY BINARY ARITHMETIC?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2286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800" b="1">
                <a:solidFill>
                  <a:srgbClr val="2DD3E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395728"/>
            <a:ext cx="4407407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Digital systems represent data using 0s and 1s.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286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800" b="1">
                <a:solidFill>
                  <a:srgbClr val="2DD3E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246120"/>
            <a:ext cx="4407407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Arithmetic circuits are used inside processors and ALUs.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2286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800" b="1">
                <a:solidFill>
                  <a:srgbClr val="2DD3E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4160520"/>
            <a:ext cx="4407407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A shared design performs addition and subtraction.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572768"/>
            <a:ext cx="5349240" cy="4526280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810512"/>
            <a:ext cx="4663440" cy="34747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1">
                <a:solidFill>
                  <a:srgbClr val="2DD3EF"/>
                </a:solidFill>
                <a:latin typeface="Aptos"/>
              </a:rPr>
              <a:t>PROJECT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395728"/>
            <a:ext cx="4572000" cy="8229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Design and simulate a 4-bit circuit that adds or subtracts two binary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657600"/>
            <a:ext cx="2057400" cy="82296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3ED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767328"/>
            <a:ext cx="1874519" cy="5943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700" b="1">
                <a:solidFill>
                  <a:srgbClr val="3EDA93"/>
                </a:solidFill>
                <a:latin typeface="Aptos"/>
              </a:rPr>
              <a:t>M = 0
A +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657600"/>
            <a:ext cx="2057400" cy="82296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3767328"/>
            <a:ext cx="1874519" cy="5943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700" b="1">
                <a:solidFill>
                  <a:srgbClr val="FFCD5C"/>
                </a:solidFill>
                <a:latin typeface="Aptos"/>
              </a:rPr>
              <a:t>M = 1
A −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892040"/>
            <a:ext cx="4572000" cy="5943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0">
                <a:solidFill>
                  <a:srgbClr val="ADBED5"/>
                </a:solidFill>
                <a:latin typeface="Aptos"/>
              </a:rPr>
              <a:t>Outputs: S3–S0 (4-bit result) and final carry-out.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000" b="1">
                <a:solidFill>
                  <a:srgbClr val="2DD3EF"/>
                </a:solidFill>
                <a:latin typeface="Aptos"/>
              </a:rPr>
              <a:t>DDCA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3035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Theory &amp; Logic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0">
                <a:solidFill>
                  <a:srgbClr val="ADBED5"/>
                </a:solidFill>
                <a:latin typeface="Aptos"/>
              </a:rPr>
              <a:t>XOR gates conditionally invert B; full adders calculate the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3429000" cy="1261872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292608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3EDA93"/>
                </a:solidFill>
                <a:latin typeface="Aptos"/>
              </a:rPr>
              <a:t>ADDITION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48256"/>
            <a:ext cx="292608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M = 0  →  B′ = B,  C₀ 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999232"/>
            <a:ext cx="3429000" cy="1261872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292608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FFCD5C"/>
                </a:solidFill>
                <a:latin typeface="Aptos"/>
              </a:rPr>
              <a:t>SUBTRACTION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92608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M = 1  →  B′ = NOT B,  C₀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108960" cy="7772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2000" b="1">
                <a:solidFill>
                  <a:srgbClr val="2DD3EF"/>
                </a:solidFill>
                <a:latin typeface="Aptos"/>
              </a:rPr>
              <a:t>B′ = B XOR M
C₀ =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508760"/>
            <a:ext cx="7315200" cy="29260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300" b="1">
                <a:solidFill>
                  <a:srgbClr val="2DD3EF"/>
                </a:solidFill>
                <a:latin typeface="Aptos"/>
              </a:rPr>
              <a:t>4-BIT RIPPLE-CARRY ADDER–SUBTRACTOR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2011680"/>
            <a:ext cx="5212080" cy="0"/>
          </a:xfrm>
          <a:prstGeom prst="line">
            <a:avLst/>
          </a:prstGeom>
          <a:ln w="21590">
            <a:solidFill>
              <a:srgbClr val="FF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332720" y="1874519"/>
            <a:ext cx="640080" cy="2286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200" b="1">
                <a:solidFill>
                  <a:srgbClr val="FF6777"/>
                </a:solidFill>
                <a:latin typeface="Aptos"/>
              </a:rPr>
              <a:t>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0" y="2011680"/>
            <a:ext cx="0" cy="320040"/>
          </a:xfrm>
          <a:prstGeom prst="line">
            <a:avLst/>
          </a:prstGeom>
          <a:ln w="16510">
            <a:solidFill>
              <a:srgbClr val="FF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0" y="2331720"/>
            <a:ext cx="914400" cy="50292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359152"/>
            <a:ext cx="914400" cy="38404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XOR 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834640"/>
            <a:ext cx="0" cy="347472"/>
          </a:xfrm>
          <a:prstGeom prst="line">
            <a:avLst/>
          </a:prstGeom>
          <a:ln w="17780">
            <a:solidFill>
              <a:srgbClr val="2D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26280" y="3182112"/>
            <a:ext cx="1143000" cy="91440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81144" y="3310128"/>
            <a:ext cx="1033271" cy="64008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FULL
ADDER 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93208" y="4096512"/>
            <a:ext cx="0" cy="429768"/>
          </a:xfrm>
          <a:prstGeom prst="line">
            <a:avLst/>
          </a:prstGeom>
          <a:ln w="16510">
            <a:solidFill>
              <a:srgbClr val="3ED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00600" y="4526280"/>
            <a:ext cx="59436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200" b="1">
                <a:solidFill>
                  <a:srgbClr val="3EDA93"/>
                </a:solidFill>
                <a:latin typeface="Aptos"/>
              </a:rPr>
              <a:t>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907792"/>
            <a:ext cx="1234440" cy="20116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900" b="1">
                <a:solidFill>
                  <a:srgbClr val="ADBED5"/>
                </a:solidFill>
                <a:latin typeface="Aptos"/>
              </a:rPr>
              <a:t>A3, B3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3639312"/>
            <a:ext cx="594360" cy="0"/>
          </a:xfrm>
          <a:prstGeom prst="line">
            <a:avLst/>
          </a:prstGeom>
          <a:ln w="19050">
            <a:solidFill>
              <a:srgbClr val="3ED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96712" y="3355848"/>
            <a:ext cx="548640" cy="20116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900" b="1">
                <a:solidFill>
                  <a:srgbClr val="3EDA93"/>
                </a:solidFill>
                <a:latin typeface="Aptos"/>
              </a:rPr>
              <a:t>C2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66559" y="2011680"/>
            <a:ext cx="0" cy="320040"/>
          </a:xfrm>
          <a:prstGeom prst="line">
            <a:avLst/>
          </a:prstGeom>
          <a:ln w="16510">
            <a:solidFill>
              <a:srgbClr val="FF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59" y="2331720"/>
            <a:ext cx="914400" cy="50292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59" y="2359152"/>
            <a:ext cx="914400" cy="38404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XOR 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6559" y="2834640"/>
            <a:ext cx="0" cy="347472"/>
          </a:xfrm>
          <a:prstGeom prst="line">
            <a:avLst/>
          </a:prstGeom>
          <a:ln w="17780">
            <a:solidFill>
              <a:srgbClr val="2D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63640" y="3182112"/>
            <a:ext cx="1143000" cy="91440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18503" y="3310128"/>
            <a:ext cx="1033271" cy="64008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FULL
ADDER 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30568" y="4096512"/>
            <a:ext cx="0" cy="429768"/>
          </a:xfrm>
          <a:prstGeom prst="line">
            <a:avLst/>
          </a:prstGeom>
          <a:ln w="16510">
            <a:solidFill>
              <a:srgbClr val="3ED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37959" y="4526280"/>
            <a:ext cx="59436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200" b="1">
                <a:solidFill>
                  <a:srgbClr val="3EDA93"/>
                </a:solidFill>
                <a:latin typeface="Aptos"/>
              </a:rPr>
              <a:t>S2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7" y="2907792"/>
            <a:ext cx="1234440" cy="20116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900" b="1">
                <a:solidFill>
                  <a:srgbClr val="ADBED5"/>
                </a:solidFill>
                <a:latin typeface="Aptos"/>
              </a:rPr>
              <a:t>A2, B2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06640" y="3639312"/>
            <a:ext cx="594360" cy="0"/>
          </a:xfrm>
          <a:prstGeom prst="line">
            <a:avLst/>
          </a:prstGeom>
          <a:ln w="19050">
            <a:solidFill>
              <a:srgbClr val="3ED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34071" y="3355848"/>
            <a:ext cx="548640" cy="20116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900" b="1">
                <a:solidFill>
                  <a:srgbClr val="3EDA93"/>
                </a:solidFill>
                <a:latin typeface="Aptos"/>
              </a:rPr>
              <a:t>C1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03920" y="2011680"/>
            <a:ext cx="0" cy="320040"/>
          </a:xfrm>
          <a:prstGeom prst="line">
            <a:avLst/>
          </a:prstGeom>
          <a:ln w="16510">
            <a:solidFill>
              <a:srgbClr val="FF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20" y="2331720"/>
            <a:ext cx="914400" cy="50292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2359152"/>
            <a:ext cx="914400" cy="38404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XOR 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03920" y="2834640"/>
            <a:ext cx="0" cy="347472"/>
          </a:xfrm>
          <a:prstGeom prst="line">
            <a:avLst/>
          </a:prstGeom>
          <a:ln w="17780">
            <a:solidFill>
              <a:srgbClr val="2D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001000" y="3182112"/>
            <a:ext cx="1143000" cy="91440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55864" y="3310128"/>
            <a:ext cx="1033271" cy="64008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FULL
ADDER 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67928" y="4096512"/>
            <a:ext cx="0" cy="429768"/>
          </a:xfrm>
          <a:prstGeom prst="line">
            <a:avLst/>
          </a:prstGeom>
          <a:ln w="16510">
            <a:solidFill>
              <a:srgbClr val="3ED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75320" y="4526280"/>
            <a:ext cx="59436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200" b="1">
                <a:solidFill>
                  <a:srgbClr val="3EDA93"/>
                </a:solidFill>
                <a:latin typeface="Aptos"/>
              </a:rPr>
              <a:t>S1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2907792"/>
            <a:ext cx="1234440" cy="20116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900" b="1">
                <a:solidFill>
                  <a:srgbClr val="ADBED5"/>
                </a:solidFill>
                <a:latin typeface="Aptos"/>
              </a:rPr>
              <a:t>A1, B1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0" y="3639312"/>
            <a:ext cx="594360" cy="0"/>
          </a:xfrm>
          <a:prstGeom prst="line">
            <a:avLst/>
          </a:prstGeom>
          <a:ln w="19050">
            <a:solidFill>
              <a:srgbClr val="3ED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71432" y="3355848"/>
            <a:ext cx="548640" cy="20116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900" b="1">
                <a:solidFill>
                  <a:srgbClr val="3EDA93"/>
                </a:solidFill>
                <a:latin typeface="Aptos"/>
              </a:rPr>
              <a:t>C0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241280" y="2011680"/>
            <a:ext cx="0" cy="320040"/>
          </a:xfrm>
          <a:prstGeom prst="line">
            <a:avLst/>
          </a:prstGeom>
          <a:ln w="16510">
            <a:solidFill>
              <a:srgbClr val="FF6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784080" y="2331720"/>
            <a:ext cx="914400" cy="50292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84080" y="2359152"/>
            <a:ext cx="914400" cy="38404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XOR 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41280" y="2834640"/>
            <a:ext cx="0" cy="347472"/>
          </a:xfrm>
          <a:prstGeom prst="line">
            <a:avLst/>
          </a:prstGeom>
          <a:ln w="17780">
            <a:solidFill>
              <a:srgbClr val="2D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738360" y="3182112"/>
            <a:ext cx="1143000" cy="914400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93224" y="3310128"/>
            <a:ext cx="1033271" cy="64008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FULL
ADDER 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305288" y="4096512"/>
            <a:ext cx="0" cy="429768"/>
          </a:xfrm>
          <a:prstGeom prst="line">
            <a:avLst/>
          </a:prstGeom>
          <a:ln w="16510">
            <a:solidFill>
              <a:srgbClr val="3ED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012680" y="4526280"/>
            <a:ext cx="59436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200" b="1">
                <a:solidFill>
                  <a:srgbClr val="3EDA93"/>
                </a:solidFill>
                <a:latin typeface="Aptos"/>
              </a:rPr>
              <a:t>S0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10928" y="2907792"/>
            <a:ext cx="1234440" cy="20116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900" b="1">
                <a:solidFill>
                  <a:srgbClr val="ADBED5"/>
                </a:solidFill>
                <a:latin typeface="Aptos"/>
              </a:rPr>
              <a:t>A0, B0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34840" y="5166360"/>
            <a:ext cx="713232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200" b="0">
                <a:solidFill>
                  <a:srgbClr val="ADBED5"/>
                </a:solidFill>
                <a:latin typeface="Aptos"/>
              </a:rPr>
              <a:t>Four full adders are linked by carry signals. M controls all XOR gates and C₀.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000" b="1">
                <a:solidFill>
                  <a:srgbClr val="2DD3EF"/>
                </a:solidFill>
                <a:latin typeface="Aptos"/>
              </a:rPr>
              <a:t>DDCA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3035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Circuit Design in Logisim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0">
                <a:solidFill>
                  <a:srgbClr val="ADBED5"/>
                </a:solidFill>
                <a:latin typeface="Aptos"/>
              </a:rPr>
              <a:t>Use this schematic as a guide; replace it with your actual Logisim screenshot before submission.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04672" y="1600200"/>
            <a:ext cx="4572000" cy="25603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000" b="1">
                <a:solidFill>
                  <a:srgbClr val="26374B"/>
                </a:solidFill>
                <a:latin typeface="Aptos"/>
              </a:rPr>
              <a:t>LOGIC CIRCUIT OVERVIEW  (ILLUSTRATION)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8F076B99-33F9-0BEF-976E-BA93B8C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447" y="1981135"/>
            <a:ext cx="4733618" cy="4586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000" b="1">
                <a:solidFill>
                  <a:srgbClr val="2DD3EF"/>
                </a:solidFill>
                <a:latin typeface="Aptos"/>
              </a:rPr>
              <a:t>DDCA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3035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Simulation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0">
                <a:solidFill>
                  <a:srgbClr val="ADBED5"/>
                </a:solidFill>
                <a:latin typeface="Aptos"/>
              </a:rPr>
              <a:t>Expected test cases — verify in Logisim and insert real screenshots.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349240" cy="1965960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3ED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457200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3EDA93"/>
                </a:solidFill>
                <a:latin typeface="Aptos"/>
              </a:rPr>
              <a:t>TEST 1  /  ADDITION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4572000" cy="38404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 = 0101     B = 0011     M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572000" cy="43891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800" b="1">
                <a:solidFill>
                  <a:srgbClr val="3EDA93"/>
                </a:solidFill>
                <a:latin typeface="Aptos"/>
              </a:rPr>
              <a:t>Expected result: 1000  (5 + 3 = 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49240" cy="1965960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764792"/>
            <a:ext cx="457200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FFCD5C"/>
                </a:solidFill>
                <a:latin typeface="Aptos"/>
              </a:rPr>
              <a:t>TEST 2  /  SUBTRACTION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176272"/>
            <a:ext cx="4572000" cy="38404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A = 0111     B = 0011     M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697480"/>
            <a:ext cx="4572000" cy="43891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800" b="1">
                <a:solidFill>
                  <a:srgbClr val="FFCD5C"/>
                </a:solidFill>
                <a:latin typeface="Aptos"/>
              </a:rPr>
              <a:t>Expected result: 0100  (7 − 3 =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4572000" cy="3200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1">
                <a:solidFill>
                  <a:srgbClr val="2DD3EF"/>
                </a:solidFill>
                <a:latin typeface="Aptos"/>
              </a:rPr>
              <a:t>RESULTS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24528"/>
            <a:ext cx="1417320" cy="457200"/>
          </a:xfrm>
          <a:prstGeom prst="rect">
            <a:avLst/>
          </a:prstGeom>
          <a:solidFill>
            <a:srgbClr val="1B2E49"/>
          </a:solidFill>
          <a:ln w="1016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4251960"/>
            <a:ext cx="1362456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4224528"/>
            <a:ext cx="1371600" cy="457200"/>
          </a:xfrm>
          <a:prstGeom prst="rect">
            <a:avLst/>
          </a:prstGeom>
          <a:solidFill>
            <a:srgbClr val="1B2E49"/>
          </a:solidFill>
          <a:ln w="1016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6272" y="4251960"/>
            <a:ext cx="1316736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4224528"/>
            <a:ext cx="1051560" cy="457200"/>
          </a:xfrm>
          <a:prstGeom prst="rect">
            <a:avLst/>
          </a:prstGeom>
          <a:solidFill>
            <a:srgbClr val="1B2E49"/>
          </a:solidFill>
          <a:ln w="1016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4251960"/>
            <a:ext cx="996695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224528"/>
            <a:ext cx="1417320" cy="457200"/>
          </a:xfrm>
          <a:prstGeom prst="rect">
            <a:avLst/>
          </a:prstGeom>
          <a:solidFill>
            <a:srgbClr val="1B2E49"/>
          </a:solidFill>
          <a:ln w="1016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9432" y="4251960"/>
            <a:ext cx="1362456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M /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4224528"/>
            <a:ext cx="1828800" cy="457200"/>
          </a:xfrm>
          <a:prstGeom prst="rect">
            <a:avLst/>
          </a:prstGeom>
          <a:solidFill>
            <a:srgbClr val="1B2E49"/>
          </a:solidFill>
          <a:ln w="1016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4251960"/>
            <a:ext cx="1773936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Expected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224528"/>
            <a:ext cx="1737360" cy="457200"/>
          </a:xfrm>
          <a:prstGeom prst="rect">
            <a:avLst/>
          </a:prstGeom>
          <a:solidFill>
            <a:srgbClr val="1B2E49"/>
          </a:solidFill>
          <a:ln w="10160">
            <a:solidFill>
              <a:srgbClr val="2D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45552" y="4251960"/>
            <a:ext cx="1682495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Observed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681728"/>
            <a:ext cx="141732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709160"/>
            <a:ext cx="136245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4681728"/>
            <a:ext cx="137160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76272" y="4709160"/>
            <a:ext cx="131673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0101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681728"/>
            <a:ext cx="105156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47872" y="4709160"/>
            <a:ext cx="996695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0011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81728"/>
            <a:ext cx="141732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9432" y="4709160"/>
            <a:ext cx="136245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0 / Add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681728"/>
            <a:ext cx="182880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4709160"/>
            <a:ext cx="177393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1000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4681728"/>
            <a:ext cx="173736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5552" y="4709160"/>
            <a:ext cx="1682495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FCD5C"/>
                </a:solidFill>
                <a:latin typeface="Aptos"/>
              </a:rPr>
              <a:t>Fill after 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212080"/>
            <a:ext cx="141732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" y="5239512"/>
            <a:ext cx="136245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5212080"/>
            <a:ext cx="137160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76272" y="5239512"/>
            <a:ext cx="131673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0111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5212080"/>
            <a:ext cx="105156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47872" y="5239512"/>
            <a:ext cx="996695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0011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5212080"/>
            <a:ext cx="141732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99432" y="5239512"/>
            <a:ext cx="136245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5F8FF"/>
                </a:solidFill>
                <a:latin typeface="Aptos"/>
              </a:rPr>
              <a:t>1 / Sub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5212080"/>
            <a:ext cx="182880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6752" y="5239512"/>
            <a:ext cx="1773936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0100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5212080"/>
            <a:ext cx="1737360" cy="530352"/>
          </a:xfrm>
          <a:prstGeom prst="rect">
            <a:avLst/>
          </a:prstGeom>
          <a:solidFill>
            <a:srgbClr val="132035"/>
          </a:solidFill>
          <a:ln w="762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45552" y="5239512"/>
            <a:ext cx="1682495" cy="45720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000" b="0">
                <a:solidFill>
                  <a:srgbClr val="FFCD5C"/>
                </a:solidFill>
                <a:latin typeface="Aptos"/>
              </a:rPr>
              <a:t>Fill after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1">
                <a:solidFill>
                  <a:srgbClr val="FF6777"/>
                </a:solidFill>
                <a:latin typeface="Aptos"/>
              </a:rPr>
              <a:t>Do not label expected values as observed results until you have tested the circuit.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743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000" b="1">
                <a:solidFill>
                  <a:srgbClr val="2DD3EF"/>
                </a:solidFill>
                <a:latin typeface="Aptos"/>
              </a:rPr>
              <a:t>DDCA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30352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Conclusion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29260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100" b="0">
                <a:solidFill>
                  <a:srgbClr val="ADBED5"/>
                </a:solidFill>
                <a:latin typeface="Aptos"/>
              </a:rPr>
              <a:t>A compact arithmetic building block for digital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303520" cy="4480560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4B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1">
                <a:solidFill>
                  <a:srgbClr val="2DD3EF"/>
                </a:solidFill>
                <a:latin typeface="Aptos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2286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800" b="1">
                <a:solidFill>
                  <a:srgbClr val="2DD3E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395728"/>
            <a:ext cx="4315968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600" b="0">
                <a:solidFill>
                  <a:srgbClr val="F5F8FF"/>
                </a:solidFill>
                <a:latin typeface="Aptos"/>
              </a:rPr>
              <a:t>One circuit supports addition and subtraction.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2286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700" b="1">
                <a:solidFill>
                  <a:srgbClr val="2DD3E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218688"/>
            <a:ext cx="4315968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XOR gates and mode control enable two’s-complement subtraction.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96512"/>
            <a:ext cx="2286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700" b="1">
                <a:solidFill>
                  <a:srgbClr val="2DD3E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4096512"/>
            <a:ext cx="4315968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Ripple-carry designs are simple but can have propagation delay.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56048"/>
            <a:ext cx="2286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700" b="1">
                <a:solidFill>
                  <a:srgbClr val="2DD3E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956048"/>
            <a:ext cx="4315968" cy="566928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Possible improvement: a carry-lookahead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5303520" cy="4480560"/>
          </a:xfrm>
          <a:prstGeom prst="roundRect">
            <a:avLst/>
          </a:prstGeom>
          <a:solidFill>
            <a:srgbClr val="132035"/>
          </a:solidFill>
          <a:ln w="15240">
            <a:solidFill>
              <a:srgbClr val="2F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500" b="1">
                <a:solidFill>
                  <a:srgbClr val="3EDA93"/>
                </a:solidFill>
                <a:latin typeface="Aptos"/>
              </a:rPr>
              <a:t>APPLICATIONS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423160"/>
            <a:ext cx="4663440" cy="713232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2F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496312"/>
            <a:ext cx="141732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400" b="1">
                <a:solidFill>
                  <a:srgbClr val="3EDA93"/>
                </a:solidFill>
                <a:latin typeface="Aptos"/>
              </a:rPr>
              <a:t>ALUs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496312"/>
            <a:ext cx="278892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Arithmetic in processors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383280"/>
            <a:ext cx="4663440" cy="713232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2F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3456432"/>
            <a:ext cx="141732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400" b="1">
                <a:solidFill>
                  <a:srgbClr val="3EDA93"/>
                </a:solidFill>
                <a:latin typeface="Aptos"/>
              </a:rPr>
              <a:t>Calculators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56432"/>
            <a:ext cx="278892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Basic binary 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4343400"/>
            <a:ext cx="4663440" cy="713232"/>
          </a:xfrm>
          <a:prstGeom prst="roundRect">
            <a:avLst/>
          </a:prstGeom>
          <a:solidFill>
            <a:srgbClr val="1B2E49"/>
          </a:solidFill>
          <a:ln w="15240">
            <a:solidFill>
              <a:srgbClr val="2F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4416552"/>
            <a:ext cx="141732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400" b="1">
                <a:solidFill>
                  <a:srgbClr val="3EDA93"/>
                </a:solidFill>
                <a:latin typeface="Aptos"/>
              </a:rPr>
              <a:t>Embedded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416552"/>
            <a:ext cx="2788920" cy="50292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Digital control and computation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40680"/>
            <a:ext cx="4572000" cy="365760"/>
          </a:xfrm>
          <a:prstGeom prst="rect">
            <a:avLst/>
          </a:prstGeom>
          <a:noFill/>
        </p:spPr>
        <p:txBody>
          <a:bodyPr wrap="square" lIns="64008" tIns="27432" rIns="64008" bIns="27432" anchor="ctr">
            <a:spAutoFit/>
          </a:bodyPr>
          <a:lstStyle/>
          <a:p>
            <a:pPr algn="ctr"/>
            <a:r>
              <a:rPr sz="1700" b="1">
                <a:solidFill>
                  <a:srgbClr val="2DD3E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499</Words>
  <Application>Microsoft Office PowerPoint</Application>
  <PresentationFormat>Widescreen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Maddhika Harshitha Reddy</dc:creator>
  <cp:keywords/>
  <dc:description>generated using python-pptx</dc:description>
  <cp:lastModifiedBy>Maddhika Harshitha Reddy</cp:lastModifiedBy>
  <cp:revision>2</cp:revision>
  <dcterms:created xsi:type="dcterms:W3CDTF">2013-01-27T09:14:16Z</dcterms:created>
  <dcterms:modified xsi:type="dcterms:W3CDTF">2026-10-15T07:34:23Z</dcterms:modified>
  <cp:category/>
</cp:coreProperties>
</file>